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-822960" y="-822960"/>
            <a:ext cx="2560320" cy="2560320"/>
          </a:xfrm>
          <a:prstGeom prst="ellipse">
            <a:avLst/>
          </a:prstGeom>
          <a:solidFill>
            <a:srgbClr val="00897B">
              <a:alpha val="30000"/>
            </a:srgbClr>
          </a:solidFill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3657600"/>
            <a:ext cx="2286000" cy="2286000"/>
          </a:xfrm>
          <a:prstGeom prst="ellipse">
            <a:avLst/>
          </a:prstGeom>
          <a:solidFill>
            <a:srgbClr val="E64A19">
              <a:alpha val="25000"/>
            </a:srgbClr>
          </a:solidFill>
          <a:ln w="12700">
            <a:solidFill>
              <a:srgbClr val="E64A19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640080"/>
            <a:ext cx="6949440" cy="3840480"/>
          </a:xfrm>
          <a:prstGeom prst="rect">
            <a:avLst/>
          </a:prstGeom>
          <a:solidFill>
            <a:srgbClr val="1B2A3B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97280" y="640080"/>
            <a:ext cx="694944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0" y="9601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5200" dirty="0"/>
          </a:p>
        </p:txBody>
      </p:sp>
      <p:sp>
        <p:nvSpPr>
          <p:cNvPr id="24" name="Shape 22"/>
          <p:cNvSpPr/>
          <p:nvPr/>
        </p:nvSpPr>
        <p:spPr>
          <a:xfrm>
            <a:off x="4434840" y="1051560"/>
            <a:ext cx="0" cy="685800"/>
          </a:xfrm>
          <a:prstGeom prst="line">
            <a:avLst/>
          </a:prstGeom>
          <a:noFill/>
          <a:ln w="19050">
            <a:solidFill>
              <a:srgbClr val="8FA3B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9601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endParaRPr lang="en-US" sz="5200" dirty="0"/>
          </a:p>
        </p:txBody>
      </p:sp>
      <p:sp>
        <p:nvSpPr>
          <p:cNvPr id="26" name="Text 24"/>
          <p:cNvSpPr/>
          <p:nvPr/>
        </p:nvSpPr>
        <p:spPr>
          <a:xfrm>
            <a:off x="164592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Encoder Representations from Transformers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Pre-trained Transformer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71600" y="23317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사전학습모델의 이해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371600" y="299923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원리 · 구조 · 학습 방식의 심층적 분석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286000" y="3429000"/>
            <a:ext cx="4572000" cy="0"/>
          </a:xfrm>
          <a:prstGeom prst="line">
            <a:avLst/>
          </a:prstGeom>
          <a:noFill/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3566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2025-09-23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서론: 자연어 사전학습모델의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694944"/>
            <a:ext cx="8686800" cy="0"/>
          </a:xfrm>
          <a:prstGeom prst="line">
            <a:avLst/>
          </a:prstGeom>
          <a:noFill/>
          <a:ln w="12700">
            <a:solidFill>
              <a:srgbClr val="E8E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822960"/>
            <a:ext cx="416052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22960"/>
            <a:ext cx="416052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412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사전학습 모델이란?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35024"/>
            <a:ext cx="201168" cy="20116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298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텍스트 데이터를 미리 학습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54533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언어의 복잡한 패턴, 문법, 의미, 맥락을 내재화하는 AI 모델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176272"/>
            <a:ext cx="201168" cy="20116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39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전이 학습(Transfer Learning)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38658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학습된 지식을 소량의 레이블 데이터로 다양한 NLP 태스크에 적용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017520"/>
            <a:ext cx="201168" cy="20116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809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분야의 혁신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2278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지도학습 방식 대비 성능을 비약적으로 향상시킨 패러다임 전환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858768"/>
            <a:ext cx="201168" cy="20116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22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언어 모델(LLM)의 시작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0690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BERT·GPT는 ChatGPT, Gemini 등 현재 LLM 시대의 근간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822960"/>
            <a:ext cx="4370832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822960"/>
            <a:ext cx="437083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84124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BERT와 GPT — 두 축의 혁신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1728" y="1316736"/>
            <a:ext cx="1938528" cy="1417320"/>
          </a:xfrm>
          <a:prstGeom prst="rect">
            <a:avLst/>
          </a:prstGeom>
          <a:solidFill>
            <a:srgbClr val="E8F5E9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131673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09160" y="1682496"/>
            <a:ext cx="1883664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자연어 이해(NLU)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양방향 문맥 파악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인코더 전용 구조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Google, 2018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94576" y="1316736"/>
            <a:ext cx="1938528" cy="14173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94576" y="1316736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22008" y="1682496"/>
            <a:ext cx="1883664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자연어 생성(NLG)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단방향 문맥 처리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디코더 전용 구조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OpenAI, 2018~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81728" y="2834640"/>
            <a:ext cx="4151376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C5CAE9"/>
            </a:solidFill>
          </a:ln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공통점: Transformer 기반 · 대규모 비지도 사전학습 · 파인튜닝으로 다양한 태스크 적용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81728" y="3429000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0" y="3557016"/>
            <a:ext cx="630936" cy="0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44568" y="37307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17136" y="3913632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발표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568696" y="3429000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24728" y="3557016"/>
            <a:ext cx="630936" cy="0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31536" y="37307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04104" y="3913632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&amp; GPT-1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55664" y="3429000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11696" y="3557016"/>
            <a:ext cx="630936" cy="0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8504" y="37307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91072" y="3913632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(15억 파라미터)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342632" y="3429000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98664" y="3557016"/>
            <a:ext cx="630936" cy="0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05472" y="37307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78040" y="3913632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(1,750억)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229600" y="3429000"/>
            <a:ext cx="256032" cy="25603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92440" y="37307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2023+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065008" y="3913632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GPT-4·LLaMA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·Gemini 등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기반 구조 이해 — BERT와 GPT의 공통 토대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694944"/>
            <a:ext cx="8686800" cy="0"/>
          </a:xfrm>
          <a:prstGeom prst="line">
            <a:avLst/>
          </a:prstGeom>
          <a:noFill/>
          <a:ln w="12700">
            <a:solidFill>
              <a:srgbClr val="E8E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" y="777240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BERT와 GPT 모두 Google이 2017년 발표한 Transformer 아키텍처를 기반으로 하며, 각각 인코더(BERT)와 디코더(GPT) 부분만 채택합니다.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207008"/>
            <a:ext cx="2743200" cy="3547872"/>
          </a:xfrm>
          <a:prstGeom prst="rect">
            <a:avLst/>
          </a:prstGeom>
          <a:solidFill>
            <a:srgbClr val="FFFFFF"/>
          </a:solidFill>
          <a:ln w="9525">
            <a:solidFill>
              <a:srgbClr val="E8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2984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셀프 어텐션 (Self-Attention)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2514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Query, Key, Value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단어를 Q·K·V 벡터로 변환, Q×Kᵀ 내적 후 Softmax로 어텐션 가중치 산출
</a:t>
            </a:r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처리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RNN의 순차 처리 한계를 극복, GPU 병렬 연산으로 학습 속도 대폭 향상
</a:t>
            </a:r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장거리 의존성 포착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문장 내 임의 거리의 단어 간 관계를 O(1) 연산으로 직접 모델링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27248" y="1207008"/>
            <a:ext cx="2487168" cy="3547872"/>
          </a:xfrm>
          <a:prstGeom prst="rect">
            <a:avLst/>
          </a:prstGeom>
          <a:solidFill>
            <a:srgbClr val="FFFFFF"/>
          </a:solidFill>
          <a:ln w="9525">
            <a:solidFill>
              <a:srgbClr val="E8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2984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포지셔널 인코딩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1691640"/>
            <a:ext cx="22402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정보 보완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어텐션은 순서를 모름 → sin/cos 함수 기반 위치 벡터를 임베딩에 추가
</a:t>
            </a:r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Transformer: 고정 공식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PE(pos,2i) = sin(pos/10000^(2i/d))
</a:t>
            </a:r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BERT: 학습 가능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512 토큰 위치 임베딩을 파라미터로 학습
</a:t>
            </a:r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GPT: 학습 가능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GPT-3는 최대 2048 컨텍스트 길이의 학습 가능 위치 임베딩 사용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97296" y="1207008"/>
            <a:ext cx="3145536" cy="3547872"/>
          </a:xfrm>
          <a:prstGeom prst="rect">
            <a:avLst/>
          </a:prstGeom>
          <a:solidFill>
            <a:srgbClr val="FFFFFF"/>
          </a:solidFill>
          <a:ln w="9525">
            <a:solidFill>
              <a:srgbClr val="E8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16168" y="12984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멀티헤드 어텐션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16168" y="1691640"/>
            <a:ext cx="29260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복수의 어텐션 헤드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입력에 대해 h개 헤드가 서로 다른 부분 공간에서 어텐션 계산 후 병합
</a:t>
            </a:r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 / BERT-large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12헤드·768차원 / 16헤드·1024차원
</a:t>
            </a:r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96헤드, 히든 12288차원
</a:t>
            </a:r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어텐션 블록 뒤 2-layer FFN (4× 확장) + LayerNorm + Residual 연결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" y="4800600"/>
            <a:ext cx="8732520" cy="228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4800600"/>
            <a:ext cx="8732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= Transformer Encoder Stack  |  GPT = Transformer Decoder Stack (masked self-attention)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모델의 핵심 구조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694944"/>
            <a:ext cx="8686800" cy="0"/>
          </a:xfrm>
          <a:prstGeom prst="line">
            <a:avLst/>
          </a:prstGeom>
          <a:noFill/>
          <a:ln w="12700">
            <a:solidFill>
              <a:srgbClr val="E8E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" y="777240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BERT(Bidirectional Encoder Representations from Transformers)는 Google이 2018년 발표한 모델로, Transformer의 인코더만 사용하여 양방향 문맥을 학습합니다.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207008"/>
            <a:ext cx="320040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인코더 기반 아키텍처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664208"/>
            <a:ext cx="29718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구조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디코더 없이 인코더만으로 언어 표현 학습. 모든 토큰이 서로를 동시에 참조 가능
</a:t>
            </a:r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셀프 어텐션 (Self-Attention)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RNN·CNN을 쓰지 않고 순수 어텐션으로 단어 간 관계를 병렬 포착
</a:t>
            </a:r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양방향성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GPT의 단방향(left-to-right)과 달리 입력 시퀀스 전체를 동시에 봄
</a:t>
            </a:r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12/24 Encoder Layers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레이어: Multi-Head Attention → Add &amp; Norm → FFN → Add &amp; Norm 반복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1207008"/>
            <a:ext cx="25603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03320" y="1298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구성 흐름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03320" y="1719072"/>
            <a:ext cx="228600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7190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임베딩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066544"/>
            <a:ext cx="0" cy="82296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03320" y="2148840"/>
            <a:ext cx="2286000" cy="3474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2148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496312"/>
            <a:ext cx="0" cy="82296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03320" y="2578608"/>
            <a:ext cx="2286000" cy="34747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2578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926080"/>
            <a:ext cx="0" cy="82296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03320" y="3008376"/>
            <a:ext cx="2286000" cy="3474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30083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355848"/>
            <a:ext cx="0" cy="82296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03320" y="3438144"/>
            <a:ext cx="2286000" cy="347472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34381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785616"/>
            <a:ext cx="0" cy="82296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03320" y="3867912"/>
            <a:ext cx="2286000" cy="3474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38679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N 반복 (12/24)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4215384"/>
            <a:ext cx="0" cy="82296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03320" y="4297680"/>
            <a:ext cx="2286000" cy="347472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4297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표현 벡터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1207008"/>
            <a:ext cx="27889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46520" y="12984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규모 비교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09360" y="1691640"/>
            <a:ext cx="932688" cy="475488"/>
          </a:xfrm>
          <a:prstGeom prst="rect">
            <a:avLst/>
          </a:prstGeom>
          <a:solidFill>
            <a:srgbClr val="00897B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691640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242048" y="1691640"/>
            <a:ext cx="932688" cy="475488"/>
          </a:xfrm>
          <a:prstGeom prst="rect">
            <a:avLst/>
          </a:prstGeom>
          <a:solidFill>
            <a:srgbClr val="00897B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42048" y="1691640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174736" y="1691640"/>
            <a:ext cx="932688" cy="475488"/>
          </a:xfrm>
          <a:prstGeom prst="rect">
            <a:avLst/>
          </a:prstGeom>
          <a:solidFill>
            <a:srgbClr val="00897B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74736" y="1691640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BERT-large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09360" y="2167128"/>
            <a:ext cx="9326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2167128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레이어 수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42048" y="2167128"/>
            <a:ext cx="9326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42048" y="2167128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174736" y="2167128"/>
            <a:ext cx="9326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74736" y="2167128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09360" y="2642616"/>
            <a:ext cx="932688" cy="475488"/>
          </a:xfrm>
          <a:prstGeom prst="rect">
            <a:avLst/>
          </a:prstGeom>
          <a:solidFill>
            <a:srgbClr val="F1F8E9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2642616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히든 차원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242048" y="2642616"/>
            <a:ext cx="932688" cy="475488"/>
          </a:xfrm>
          <a:prstGeom prst="rect">
            <a:avLst/>
          </a:prstGeom>
          <a:solidFill>
            <a:srgbClr val="F1F8E9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2642616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174736" y="2642616"/>
            <a:ext cx="932688" cy="475488"/>
          </a:xfrm>
          <a:prstGeom prst="rect">
            <a:avLst/>
          </a:prstGeom>
          <a:solidFill>
            <a:srgbClr val="F1F8E9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74736" y="2642616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309360" y="3118104"/>
            <a:ext cx="9326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3118104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어텐션 헤드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242048" y="3118104"/>
            <a:ext cx="9326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42048" y="3118104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174736" y="3118104"/>
            <a:ext cx="9326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174736" y="3118104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309360" y="3593592"/>
            <a:ext cx="932688" cy="475488"/>
          </a:xfrm>
          <a:prstGeom prst="rect">
            <a:avLst/>
          </a:prstGeom>
          <a:solidFill>
            <a:srgbClr val="F1F8E9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9360" y="3593592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42048" y="3593592"/>
            <a:ext cx="932688" cy="475488"/>
          </a:xfrm>
          <a:prstGeom prst="rect">
            <a:avLst/>
          </a:prstGeom>
          <a:solidFill>
            <a:srgbClr val="F1F8E9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42048" y="3593592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1.1억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174736" y="3593592"/>
            <a:ext cx="932688" cy="475488"/>
          </a:xfrm>
          <a:prstGeom prst="rect">
            <a:avLst/>
          </a:prstGeom>
          <a:solidFill>
            <a:srgbClr val="F1F8E9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74736" y="3593592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3.4억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309360" y="4069080"/>
            <a:ext cx="9326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09360" y="4069080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242048" y="4069080"/>
            <a:ext cx="9326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42048" y="4069080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BooksCorpus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Wikipedia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174736" y="4069080"/>
            <a:ext cx="9326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174736" y="4069080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사전학습 ① — 마스크 언어 모델 (MLM)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694944"/>
            <a:ext cx="8686800" cy="0"/>
          </a:xfrm>
          <a:prstGeom prst="line">
            <a:avLst/>
          </a:prstGeom>
          <a:noFill/>
          <a:ln w="12700">
            <a:solidFill>
              <a:srgbClr val="E8E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" y="777240"/>
            <a:ext cx="8732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학습 방식의 핵심. 문장의 일부 토큰을 숨긴 후 나머지 전체 문맥을 활용해 예측함으로써 진정한 양방향 언어 표현을 학습합니다.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1170432"/>
            <a:ext cx="411480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170432"/>
            <a:ext cx="411480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동작 메커니즘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627632"/>
            <a:ext cx="38862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15% 토큰 무작위 선택
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문장에서 전체 토큰의 약 15%를 무작위로 선택합니다.
</a:t>
            </a:r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세 가지 방식으로 처리
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80% → [MASK] 토큰으로 대체 (모델이 예측하도록)
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10% → 임의 다른 단어로 대체 (노이즈 주입)
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10% → 원본 그대로 유지 (모델이 교란에 민감하지 않도록)
</a:t>
            </a:r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양방향 문맥으로 예측
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마스킹된 위치의 토큰을 예측할 때 해당 위치의 좌·우 문맥을 모두 활용.
이것이 단방향 LM과의 근본적인 차이점입니다.
</a:t>
            </a:r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 함수
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마스킹된 토큰에 대해서만 Cross-Entropy Loss를 계산. 나머지 토큰은 손실에 기여하지 않습니다.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98848" y="1170432"/>
            <a:ext cx="443484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98848" y="1170432"/>
            <a:ext cx="4434840" cy="38404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17043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MLM 예시 및 기존 모델과의 비교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16642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문장: "나는 어제 점심을 먹었다"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1965960"/>
            <a:ext cx="786384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965960"/>
            <a:ext cx="786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나는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58968" y="1965960"/>
            <a:ext cx="786384" cy="47548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58968" y="1965960"/>
            <a:ext cx="786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[MASK]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0216" y="1965960"/>
            <a:ext cx="786384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0216" y="1965960"/>
            <a:ext cx="786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점심을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41464" y="1965960"/>
            <a:ext cx="786384" cy="47548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41464" y="1965960"/>
            <a:ext cx="786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[MASK]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982712" y="1965960"/>
            <a:ext cx="786384" cy="47548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2712" y="1965960"/>
            <a:ext cx="786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먹었다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58968" y="2441448"/>
            <a:ext cx="0" cy="228600"/>
          </a:xfrm>
          <a:prstGeom prst="line">
            <a:avLst/>
          </a:prstGeom>
          <a:noFill/>
          <a:ln w="19050">
            <a:solidFill>
              <a:srgbClr val="E64A1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41464" y="2441448"/>
            <a:ext cx="0" cy="228600"/>
          </a:xfrm>
          <a:prstGeom prst="line">
            <a:avLst/>
          </a:prstGeom>
          <a:noFill/>
          <a:ln w="19050">
            <a:solidFill>
              <a:srgbClr val="E64A1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651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예측: "어제"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20840" y="2651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예측: "을"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98848" y="2999232"/>
            <a:ext cx="4434840" cy="0"/>
          </a:xfrm>
          <a:prstGeom prst="line">
            <a:avLst/>
          </a:prstGeom>
          <a:noFill/>
          <a:ln w="9525">
            <a:solidFill>
              <a:srgbClr val="E8EC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0632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언어 모델과의 차이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17720" y="3364992"/>
            <a:ext cx="658368" cy="43891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364992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LM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21808" y="3364992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단방향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72200" y="3364992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P(w_t | w_1...w_{t-1})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토큰만 참조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17720" y="3895344"/>
            <a:ext cx="658368" cy="43891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3895344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ELMo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21808" y="389534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←  각각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72200" y="389534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좌→우, 우→좌 독립 학습 후 결합.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진정한 양방향 아님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17720" y="4425696"/>
            <a:ext cx="658368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4425696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MLM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21808" y="4425696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→ 동시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72200" y="4425696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마스킹된 위치의 좌·우 컨텍스트를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번에 통합하여 예측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사전학습 ② — 다음 문장 예측 (NSP) &amp; 파인튜닝 전략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694944"/>
            <a:ext cx="8686800" cy="0"/>
          </a:xfrm>
          <a:prstGeom prst="line">
            <a:avLst/>
          </a:prstGeom>
          <a:noFill/>
          <a:ln w="12700">
            <a:solidFill>
              <a:srgbClr val="E8E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804672"/>
            <a:ext cx="41605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04672"/>
            <a:ext cx="416052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046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문장 예측 (NSP)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261872"/>
            <a:ext cx="39319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문장 쌍 이진 분류
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IsNext(실제 연속 문장) + 50% NotNext(무작위 문장)로 구성된 쌍을 [CLS] 토큰으로 예측
</a:t>
            </a:r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토큰의 역할
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[CLS] 표현 벡터에 Binary Classifier 추가 → 문장 관계 이해
</a:t>
            </a:r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NSP 논쟁
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연구(2019)에서 NSP가 오히려 성능 저하 유발 가능성 제시. 이후 변형 모델(XLNet, RoBERTa 등)은 NSP 제거 추세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804672"/>
            <a:ext cx="436168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804672"/>
            <a:ext cx="4361688" cy="38404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8046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파인튜닝(Fine-tuning) 전략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26864" y="1298448"/>
            <a:ext cx="105156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29844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분류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724144" y="1298448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 벡터 → Softmax 분류기. 감정분석·스팸 탐지 등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26864" y="1828800"/>
            <a:ext cx="1051560" cy="43891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82880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개체명 인식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724144" y="1828800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토큰 출력 벡터 → 개체 레이블 예측 (BIO 태깅)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26864" y="2359152"/>
            <a:ext cx="1051560" cy="438912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2359152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질의응답(QA)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24144" y="2359152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[문맥] + [질문] 입력 → 정답 시작·끝 위치 예측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26864" y="2889504"/>
            <a:ext cx="1051560" cy="438912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2889504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문장 유사도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724144" y="2889504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문장 [CLS] 벡터 비교 또는 Siamese 구조 활용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01168" y="3639312"/>
            <a:ext cx="87325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168" y="3639312"/>
            <a:ext cx="54864" cy="13716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758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사전학습 데이터 &amp; 하이퍼파라미터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400507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데이터  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627632" y="4005072"/>
            <a:ext cx="7178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BooksCorpus(800M 단어) + Wikipedia(2,500M 단어) → 총 3.3B 단어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2519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시간  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627632" y="4251960"/>
            <a:ext cx="7178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BERT-base: 4 TPU × 4일 / BERT-large: 16 TPU × 4일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49884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배치 크기  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627632" y="4498848"/>
            <a:ext cx="7178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시퀀스 × 최대 512 토큰 = 131,072 토큰/배치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474573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스텝  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627632" y="4745736"/>
            <a:ext cx="7178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100만 스텝 (약 40 에폭)  |  옵티마이저: Adam (lr=1e-4, β1=0.9, β2=0.999)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GPT의 자기회귀(Autoregressive) 학습 방식 상세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694944"/>
            <a:ext cx="8686800" cy="0"/>
          </a:xfrm>
          <a:prstGeom prst="line">
            <a:avLst/>
          </a:prstGeom>
          <a:noFill/>
          <a:ln w="12700">
            <a:solidFill>
              <a:srgbClr val="E8E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804672"/>
            <a:ext cx="41605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04672"/>
            <a:ext cx="4160520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046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자기회귀 언어 모델 구조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261872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 아키텍처
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디코더 블록만 적층. 인코더와의 Cross-Attention 레이어를 제거한 순수 디코더 구조
</a:t>
            </a:r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Self-Attention
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토큰은 자신보다 이전(왼쪽)에 위치한 토큰들만 참조 가능. 미래 토큰은 어텐션 마스크로 차단
</a:t>
            </a:r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목표: 다음 단어 예측
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P(x_t | x_1, x_2, ..., x_{t-1}) 최대화
각 위치에서 바로 다음 토큰의 확률 분포를 예측
→ Cross-Entropy Loss의 합산
</a:t>
            </a:r>
            <a:pPr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 시: 자기회귀 생성
</a:t>
            </a:r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토큰부터 하나씩 생성. 생성된 토큰을 다시 입력에 추가하여 다음 토큰 예측 반복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(Top-k sampling, Temperature, Beam Search 등 디코딩 전략 적용)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804672"/>
            <a:ext cx="4361688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804672"/>
            <a:ext cx="4361688" cy="38404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8046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자기회귀 생성 과정 &amp; 마스킹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90872" y="12618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생성 단계 ("나는 밥을"을 프롬프트로 주었을 때)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90872" y="1600200"/>
            <a:ext cx="566928" cy="530352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160020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21808" y="160020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입력: "나는 밥을"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21808" y="18562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출력: "먹었다"  (다음 토큰 예측)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90872" y="2221992"/>
            <a:ext cx="566928" cy="530352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222199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21808" y="22219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입력: "나는 밥을 먹었다"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21808" y="24780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출력: "."  (이전 출력 포함하여 재입력)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90872" y="2843784"/>
            <a:ext cx="566928" cy="530352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2843784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21808" y="28437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입력: "나는 밥을 먹었다 ."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21808" y="30998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출력: "[EOS]"  (종료 토큰 예측 → 생성 완료)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3511296"/>
            <a:ext cx="4361688" cy="0"/>
          </a:xfrm>
          <a:prstGeom prst="line">
            <a:avLst/>
          </a:prstGeom>
          <a:noFill/>
          <a:ln w="9525">
            <a:solidFill>
              <a:srgbClr val="E8EC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356616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Self-Attention 행렬 구조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90872" y="38587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나는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349240" y="38587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밥을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07608" y="38587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먹었다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90872" y="4114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나는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376672" y="4114800"/>
            <a:ext cx="301752" cy="256032"/>
          </a:xfrm>
          <a:prstGeom prst="rect">
            <a:avLst/>
          </a:prstGeom>
          <a:solidFill>
            <a:srgbClr val="0089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96712" y="4114800"/>
            <a:ext cx="301752" cy="256032"/>
          </a:xfrm>
          <a:prstGeom prst="rect">
            <a:avLst/>
          </a:prstGeom>
          <a:solidFill>
            <a:srgbClr val="B0BE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16752" y="4114800"/>
            <a:ext cx="301752" cy="256032"/>
          </a:xfrm>
          <a:prstGeom prst="rect">
            <a:avLst/>
          </a:prstGeom>
          <a:solidFill>
            <a:srgbClr val="B0BE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4407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밥을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376672" y="4407408"/>
            <a:ext cx="301752" cy="256032"/>
          </a:xfrm>
          <a:prstGeom prst="rect">
            <a:avLst/>
          </a:prstGeom>
          <a:solidFill>
            <a:srgbClr val="0089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96712" y="4407408"/>
            <a:ext cx="301752" cy="256032"/>
          </a:xfrm>
          <a:prstGeom prst="rect">
            <a:avLst/>
          </a:prstGeom>
          <a:solidFill>
            <a:srgbClr val="0089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16752" y="4407408"/>
            <a:ext cx="301752" cy="256032"/>
          </a:xfrm>
          <a:prstGeom prst="rect">
            <a:avLst/>
          </a:prstGeom>
          <a:solidFill>
            <a:srgbClr val="B0BEC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90872" y="47000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먹었다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376672" y="4700016"/>
            <a:ext cx="301752" cy="256032"/>
          </a:xfrm>
          <a:prstGeom prst="rect">
            <a:avLst/>
          </a:prstGeom>
          <a:solidFill>
            <a:srgbClr val="0089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96712" y="4700016"/>
            <a:ext cx="301752" cy="256032"/>
          </a:xfrm>
          <a:prstGeom prst="rect">
            <a:avLst/>
          </a:prstGeom>
          <a:solidFill>
            <a:srgbClr val="0089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16752" y="4700016"/>
            <a:ext cx="301752" cy="256032"/>
          </a:xfrm>
          <a:prstGeom prst="rect">
            <a:avLst/>
          </a:prstGeom>
          <a:solidFill>
            <a:srgbClr val="00897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42432" y="49834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참조 가능  □ 마스크(참조 불가)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시리즈의 발전 과정 — 규모 확장과 학습 전략 변화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694944"/>
            <a:ext cx="8686800" cy="0"/>
          </a:xfrm>
          <a:prstGeom prst="line">
            <a:avLst/>
          </a:prstGeom>
          <a:noFill/>
          <a:ln w="12700">
            <a:solidFill>
              <a:srgbClr val="E8E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804672"/>
            <a:ext cx="873252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8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04672"/>
            <a:ext cx="54864" cy="111556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59536"/>
            <a:ext cx="8458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GPT의 핵심 학습 원리: 단순한 다음 단어 예측(Next Token Prediction)을 초대규모 데이터로 반복하면 언어 이해·추론·생성 능력이 창발(Emergence)한다.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8458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Law: 파라미터 수·데이터량·연산량을 함께 늘릴수록 성능이 예측 가능하게 향상 (Kaplan et al., 2020)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1168" y="1993392"/>
            <a:ext cx="777240" cy="347472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19933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78408" y="1993392"/>
            <a:ext cx="594360" cy="347472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199339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572768" y="1993392"/>
            <a:ext cx="960120" cy="347472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72768" y="19933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32888" y="1993392"/>
            <a:ext cx="868680" cy="347472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32888" y="199339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01568" y="1993392"/>
            <a:ext cx="5486400" cy="347472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19933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학습 전략 혁신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" y="2340864"/>
            <a:ext cx="777240" cy="658368"/>
          </a:xfrm>
          <a:prstGeom prst="rect">
            <a:avLst/>
          </a:prstGeom>
          <a:solidFill>
            <a:srgbClr val="FFF3E0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" y="2340864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78408" y="2340864"/>
            <a:ext cx="594360" cy="658368"/>
          </a:xfrm>
          <a:prstGeom prst="rect">
            <a:avLst/>
          </a:prstGeom>
          <a:solidFill>
            <a:srgbClr val="FFF3E0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234086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572768" y="2340864"/>
            <a:ext cx="960120" cy="658368"/>
          </a:xfrm>
          <a:prstGeom prst="rect">
            <a:avLst/>
          </a:prstGeom>
          <a:solidFill>
            <a:srgbClr val="FFF3E0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18488" y="2340864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1.17억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32888" y="2340864"/>
            <a:ext cx="868680" cy="658368"/>
          </a:xfrm>
          <a:prstGeom prst="rect">
            <a:avLst/>
          </a:prstGeom>
          <a:solidFill>
            <a:srgbClr val="FFF3E0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78608" y="2340864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tok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01568" y="2340864"/>
            <a:ext cx="5486400" cy="658368"/>
          </a:xfrm>
          <a:prstGeom prst="rect">
            <a:avLst/>
          </a:prstGeom>
          <a:solidFill>
            <a:srgbClr val="FFF3E0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2340864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디코더 최초 사용. 비지도 사전학습 + 지도 파인튜닝(미니멀 수정) 패러다임 정립. 8개 언어 이해 벤치마크에서 SOTA 달성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1168" y="2999232"/>
            <a:ext cx="777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6888" y="2999232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78408" y="2999232"/>
            <a:ext cx="594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4128" y="299923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572768" y="2999232"/>
            <a:ext cx="960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18488" y="2999232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15억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32888" y="2999232"/>
            <a:ext cx="868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78608" y="2999232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 tok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01568" y="2999232"/>
            <a:ext cx="5486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47288" y="299923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10배 확장(WebText 40GB). Zero-shot 학습 능력 발견. Task-specific 파인튜닝 없이도 다양한 태스크 수행 가능성 제시. 악용 우려로 초기 공개 제한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01168" y="3657600"/>
            <a:ext cx="777240" cy="658368"/>
          </a:xfrm>
          <a:prstGeom prst="rect">
            <a:avLst/>
          </a:prstGeom>
          <a:solidFill>
            <a:srgbClr val="FFF3E0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6888" y="3657600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78408" y="3657600"/>
            <a:ext cx="594360" cy="658368"/>
          </a:xfrm>
          <a:prstGeom prst="rect">
            <a:avLst/>
          </a:prstGeom>
          <a:solidFill>
            <a:srgbClr val="FFF3E0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4128" y="36576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572768" y="3657600"/>
            <a:ext cx="960120" cy="658368"/>
          </a:xfrm>
          <a:prstGeom prst="rect">
            <a:avLst/>
          </a:prstGeom>
          <a:solidFill>
            <a:srgbClr val="FFF3E0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18488" y="365760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1,750억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532888" y="3657600"/>
            <a:ext cx="868680" cy="658368"/>
          </a:xfrm>
          <a:prstGeom prst="rect">
            <a:avLst/>
          </a:prstGeom>
          <a:solidFill>
            <a:srgbClr val="FFF3E0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78608" y="365760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2,048 tok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01568" y="3657600"/>
            <a:ext cx="5486400" cy="658368"/>
          </a:xfrm>
          <a:prstGeom prst="rect">
            <a:avLst/>
          </a:prstGeom>
          <a:solidFill>
            <a:srgbClr val="FFF3E0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47288" y="365760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Learning: 몇 가지 예시만 프롬프트에 제공(Few-shot)하면 추가 학습 없이 새 태스크 수행. 파라미터 동결 상태에서도 광범위한 NLP 태스크 수행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01168" y="4315968"/>
            <a:ext cx="777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6888" y="4315968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78408" y="4315968"/>
            <a:ext cx="594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24128" y="431596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572768" y="4315968"/>
            <a:ext cx="960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618488" y="4315968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~1조 추정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532888" y="4315968"/>
            <a:ext cx="868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78608" y="4315968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tok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401568" y="4315968"/>
            <a:ext cx="5486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47288" y="431596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RLHF(인간 피드백 강화학습) 고도화. 멀티모달(텍스트+이미지) 입력. 전문 시험(BAR, SAT 등) 인간 상위권 수준 달성. Constitutional AI 안전성 강화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vs GPT — 학습 방식 심층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694944"/>
            <a:ext cx="8686800" cy="0"/>
          </a:xfrm>
          <a:prstGeom prst="line">
            <a:avLst/>
          </a:prstGeom>
          <a:noFill/>
          <a:ln w="12700">
            <a:solidFill>
              <a:srgbClr val="E8E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804672"/>
            <a:ext cx="8732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04672"/>
            <a:ext cx="54864" cy="14173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41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— 양방향 (Bidirectional)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133856"/>
            <a:ext cx="713232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33856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나는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43000" y="1133856"/>
            <a:ext cx="71323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1133856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[MASK]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1133856"/>
            <a:ext cx="713232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1133856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점심을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97480" y="1133856"/>
            <a:ext cx="71323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1133856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[MASK]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0" y="1133856"/>
            <a:ext cx="713232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33856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먹었다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1618488"/>
            <a:ext cx="333756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6276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좌우 전체 문맥 동시 참조 →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98848" y="877824"/>
            <a:ext cx="0" cy="1261872"/>
          </a:xfrm>
          <a:prstGeom prst="line">
            <a:avLst/>
          </a:prstGeom>
          <a:noFill/>
          <a:ln w="12700">
            <a:solidFill>
              <a:srgbClr val="E8EC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8412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— 단방향 자기회귀 (Autoregressive)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17720" y="1133856"/>
            <a:ext cx="80467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133856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나는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0" y="1133856"/>
            <a:ext cx="80467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1133856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밥을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55080" y="1133856"/>
            <a:ext cx="80467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1133856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먹었다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23760" y="1133856"/>
            <a:ext cx="804672" cy="384048"/>
          </a:xfrm>
          <a:prstGeom prst="rect">
            <a:avLst/>
          </a:prstGeom>
          <a:solidFill>
            <a:srgbClr val="F9A825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1133856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?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1618488"/>
            <a:ext cx="3401568" cy="0"/>
          </a:xfrm>
          <a:prstGeom prst="line">
            <a:avLst/>
          </a:prstGeom>
          <a:noFill/>
          <a:ln w="25400">
            <a:solidFill>
              <a:srgbClr val="E64A1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162763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64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토큰들만 참조 → 다음 토큰 예측 →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1168" y="2322576"/>
            <a:ext cx="873252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01168" y="2322576"/>
            <a:ext cx="11887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" y="23225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항목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389888" y="2322576"/>
            <a:ext cx="374904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89888" y="23225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(인코더 / 양방향)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84648" y="2322576"/>
            <a:ext cx="3749040" cy="347472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84648" y="23225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(디코더 / 단방향)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01168" y="2670048"/>
            <a:ext cx="11887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6888" y="2670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389888" y="2670048"/>
            <a:ext cx="37490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44752" y="2670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마스킹된 토큰 복원 (MLM)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문장 연속성 판별 (NSP)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184648" y="2670048"/>
            <a:ext cx="37490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9512" y="26700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토큰 예측 (Causal LM)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P(xₜ | x₁...xₜ₋₁) 최대화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01168" y="3127248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6888" y="31272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어텐션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마스크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389888" y="3127248"/>
            <a:ext cx="3749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44752" y="3127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Attention — 모든 토큰이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상호 참조 (마스킹 없음)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184648" y="3127248"/>
            <a:ext cx="3749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39512" y="3127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Mask — 미래 토큰 차단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하삼각 어텐션 행렬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01168" y="3584448"/>
            <a:ext cx="11887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6888" y="35844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사전학습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389888" y="3584448"/>
            <a:ext cx="37490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444752" y="3584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BooksCorpus + Wikipedia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(3.3B 단어, 레이블 불필요)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184648" y="3584448"/>
            <a:ext cx="37490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39512" y="35844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WebText, CommonCrawl 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(수백~수천억 토큰, 더 다양)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01168" y="4041648"/>
            <a:ext cx="1188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6888" y="4041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방식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389888" y="4041648"/>
            <a:ext cx="3749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444752" y="4041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태스크별 헤드 추가 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파라미터 업데이트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184648" y="4041648"/>
            <a:ext cx="3749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39512" y="4041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엔지니어링,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Few-shot, RLHF 등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01168" y="4498848"/>
            <a:ext cx="11887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6888" y="44988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창발 능력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(Emergence)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389888" y="4498848"/>
            <a:ext cx="37490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444752" y="4498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 없이는 제한적.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이해·분류 태스크에 강점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184648" y="4498848"/>
            <a:ext cx="37490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8EC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39512" y="4498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규모 확장 시 Zero/Few-shot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Learning 창발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응용 분야 비교 &amp; 결론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046720" y="256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1168" y="841248"/>
            <a:ext cx="416052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84124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응용 (NLU)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1168" y="1225296"/>
            <a:ext cx="4160520" cy="2286000"/>
          </a:xfrm>
          <a:prstGeom prst="rect">
            <a:avLst/>
          </a:prstGeom>
          <a:solidFill>
            <a:srgbClr val="1B2A3B"/>
          </a:solidFill>
          <a:ln w="6350">
            <a:solidFill>
              <a:srgbClr val="2D4A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1298448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12618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분류 (감정분석·스팸 탐지)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1645920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16093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개체명 인식 (NER)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1993392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19568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질의응답 (SQuAD, KorQuAD)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340864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2304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문장 유사도·관계 분류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2688336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2651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검색 랭킹 (2019~)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035808"/>
            <a:ext cx="128016" cy="12801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29992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의료·법률 특화 모델 (BioBERT 등)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73168" y="841248"/>
            <a:ext cx="4160520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84124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응용 (NLG)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73168" y="1225296"/>
            <a:ext cx="4160520" cy="2286000"/>
          </a:xfrm>
          <a:prstGeom prst="rect">
            <a:avLst/>
          </a:prstGeom>
          <a:solidFill>
            <a:srgbClr val="1B2A3B"/>
          </a:solidFill>
          <a:ln w="6350">
            <a:solidFill>
              <a:srgbClr val="2D4A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1298448"/>
            <a:ext cx="128016" cy="128016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84064" y="12618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대화형 AI 챗봇 (ChatGPT 등)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1645920"/>
            <a:ext cx="128016" cy="128016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84064" y="16093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생성 (GitHub Copilot)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92040" y="1993392"/>
            <a:ext cx="128016" cy="128016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84064" y="19568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창의적 글쓰기·기사 작성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92040" y="2340864"/>
            <a:ext cx="128016" cy="128016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84064" y="2304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요약·번역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92040" y="2688336"/>
            <a:ext cx="128016" cy="128016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84064" y="2651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멀티모달 생성 (GPT-4V)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92040" y="3035808"/>
            <a:ext cx="128016" cy="128016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84064" y="29992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Learning / Few-shot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01168" y="3602736"/>
            <a:ext cx="8732520" cy="1325880"/>
          </a:xfrm>
          <a:prstGeom prst="rect">
            <a:avLst/>
          </a:prstGeom>
          <a:solidFill>
            <a:srgbClr val="1B2A3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1168" y="3602736"/>
            <a:ext cx="54864" cy="13258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요약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5760" y="3968496"/>
            <a:ext cx="109728" cy="10972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" y="3931920"/>
            <a:ext cx="827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BERT는 양방향 MLM 학습으로 깊은 문맥 이해를 획득 → 분류·추출·이해 태스크에 최적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65760" y="4242816"/>
            <a:ext cx="109728" cy="10972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0352" y="4206240"/>
            <a:ext cx="827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GPT는 단방향 자기회귀 학습으로 자연스러운 텍스트 생성 능력 확보 → 대화·창작·생성 태스크에 최적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65760" y="4517136"/>
            <a:ext cx="109728" cy="10972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0352" y="4480560"/>
            <a:ext cx="8275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모델은 학습 방향(양방향 vs 단방향)과 목적(이해 vs 생성)이 다르며, 서로 상호 보완적인 NLP의 두 축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01168" y="4983480"/>
            <a:ext cx="873252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자연어 사전학습모델: BERT와 GPT</dc:title>
  <dc:subject>PptxGenJS Presentation</dc:subject>
  <dc:creator>PptxGenJS</dc:creator>
  <cp:lastModifiedBy>PptxGenJS</cp:lastModifiedBy>
  <cp:revision>1</cp:revision>
  <dcterms:created xsi:type="dcterms:W3CDTF">2026-04-19T05:03:23Z</dcterms:created>
  <dcterms:modified xsi:type="dcterms:W3CDTF">2026-04-19T05:03:23Z</dcterms:modified>
</cp:coreProperties>
</file>